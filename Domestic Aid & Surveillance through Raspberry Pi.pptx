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70" r:id="rId9"/>
    <p:sldId id="267" r:id="rId10"/>
    <p:sldId id="265" r:id="rId11"/>
    <p:sldId id="272" r:id="rId12"/>
    <p:sldId id="271" r:id="rId13"/>
    <p:sldId id="268" r:id="rId14"/>
    <p:sldId id="269" r:id="rId15"/>
    <p:sldId id="26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27AB5"/>
    <a:srgbClr val="C475BA"/>
    <a:srgbClr val="000000"/>
    <a:srgbClr val="B4BD95"/>
    <a:srgbClr val="CCCCFF"/>
    <a:srgbClr val="012061"/>
    <a:srgbClr val="9BA672"/>
    <a:srgbClr val="001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DD129-A8C2-419E-B641-6CC90F5073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1524000"/>
            <a:ext cx="10668000" cy="22860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B33C04-8A23-4499-A6EF-1D190F0FB3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571999"/>
            <a:ext cx="10668000" cy="152400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FA99FB-5674-4BC5-949F-8D45EC167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8/7/2021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63CF93-DD67-4FE2-8083-864693FE8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05E934-32B6-44B1-9622-67F30BDA3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618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AF011-A499-4054-89BF-A4800A68F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FB6E8-D956-45B5-9B4A-9D31DF466B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CDB9DB-9E62-4292-915C-1DD413474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8/7/2021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D462F1-BC30-4172-8353-363123A1D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92EE8A-96DF-4D7D-B434-778324756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7537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8453A-F2B4-4EDB-B8FA-150267BC1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4000"/>
            <a:ext cx="10668000" cy="303847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C46C51-ADF1-48FC-A4D9-38C369E783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4589463"/>
            <a:ext cx="10668000" cy="150653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C43B56-4DC7-490B-AEFD-55ED1ECFF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8/7/2021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4738F8-C4B2-41D8-B627-A6DDB24B2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F43D49-23F8-4C4B-9C30-EDC030EE6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317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5556D-6916-42E6-8820-8A0D328A5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2747A5-C962-477F-89AA-A32385D579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2000" y="2285999"/>
            <a:ext cx="5151119" cy="38100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D08312-30FC-44D8-B2A9-B5CAAD9F06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8879" y="2285999"/>
            <a:ext cx="5151121" cy="38100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ED84EB-AF90-4F19-A376-0FE5E50F9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8/7/2021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838ED0-2789-41E4-A36E-83F92CA2E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221A83-6D60-45F0-9173-5F6D2438B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0937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FFAE2-03F4-4A94-86C4-9305B237C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2000"/>
            <a:ext cx="10668000" cy="152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BAC5A5-E184-46B6-8AB5-C8E132D362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2285999"/>
            <a:ext cx="5151119" cy="76199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DCFE87-5D80-45CB-9D13-DFC9AFCEC7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2000" y="3048000"/>
            <a:ext cx="5151119" cy="3048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AC1E5A-8423-4749-8EDA-E13425F696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8878" y="2286000"/>
            <a:ext cx="5151122" cy="76199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832AAA-4BB8-4A3D-9C79-516F82F800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8878" y="3048000"/>
            <a:ext cx="5151122" cy="3048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0BEC63-51D3-4C70-B804-BE9EF765A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8/7/2021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5CA295-8563-402F-92C3-1F20C977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FA5918-109D-4342-84C0-9774A52C9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612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F2662-CBD1-4498-9B6E-2961F5EF1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F739AE-8101-4C18-8CF3-911BDF397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8/7/2021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EB1C88-D181-449C-9BE1-E85068C18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38A2C9-E93B-4F0A-A021-9E3AEBC3F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419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0AE8D9-9B42-438E-ADA6-CCFE45788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8/7/2021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F792B9-A8AF-4E13-8A25-741E89691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3A2CF6-DBC5-4491-B213-B3CD09D31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4428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27076-58C8-494C-B6B1-DC86F62DD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1998"/>
            <a:ext cx="3810000" cy="1524002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9E36-0340-452F-8D0A-1BC3F3A388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0" y="762001"/>
            <a:ext cx="6096000" cy="5334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051C2E-E587-45E8-BDB1-DFF2F2791B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2000" y="2286000"/>
            <a:ext cx="3810000" cy="381000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21D993-DEDD-470E-B48B-CB053A55A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8/7/2021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926C64-7401-4CA4-859F-74472AF86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108F41-F1F6-431C-9B45-8A447F188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8417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104FB-422C-4023-9381-EB12F1582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762000"/>
            <a:ext cx="3809999" cy="15240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DBA3AA-DE44-4B1F-91D1-09F67B89B9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34000" y="762001"/>
            <a:ext cx="6021388" cy="5334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27B131-5117-4106-80DB-2AB208C4C9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2001" y="2286000"/>
            <a:ext cx="3809999" cy="38100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13918A-7F23-4C72-8E80-591324A30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8/7/2021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1071C8-76FE-4B83-8317-BD53C7C84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23681A-6F29-48FC-9409-319ED3E96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8740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A5B09-FC60-445F-8A12-79869BEC6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A219F7-87F2-409F-BB0B-8FE9270C98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AC2BB8-59E0-4EB2-B3BE-59D8641EE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8/7/2021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56984E-C0DE-461B-8011-8FC31B0EE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FE7C03-68D3-445E-A5A2-8A935CFC9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014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21F0D7-112D-48B1-B32B-170B1AA2B5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43998" y="761999"/>
            <a:ext cx="2286000" cy="53340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27A7C1-8E5B-41DA-9802-F242D382B6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2001" y="761999"/>
            <a:ext cx="7619999" cy="5334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961CC7-F5B1-464A-8127-60645FB21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8/7/2021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B94302-B381-4F37-A9FF-5CC551917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707151-541F-4104-B989-83A9DCA6E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8714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27AB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A6EF5A53-0A64-4CA5-B9C7-1CB97CB5CF1C}"/>
              </a:ext>
            </a:extLst>
          </p:cNvPr>
          <p:cNvSpPr/>
          <p:nvPr/>
        </p:nvSpPr>
        <p:spPr>
          <a:xfrm>
            <a:off x="8157843" y="6244836"/>
            <a:ext cx="4034156" cy="613164"/>
          </a:xfrm>
          <a:custGeom>
            <a:avLst/>
            <a:gdLst>
              <a:gd name="connsiteX0" fmla="*/ 1479137 w 4034156"/>
              <a:gd name="connsiteY0" fmla="*/ 230 h 613164"/>
              <a:gd name="connsiteX1" fmla="*/ 3482844 w 4034156"/>
              <a:gd name="connsiteY1" fmla="*/ 298555 h 613164"/>
              <a:gd name="connsiteX2" fmla="*/ 3831590 w 4034156"/>
              <a:gd name="connsiteY2" fmla="*/ 425010 h 613164"/>
              <a:gd name="connsiteX3" fmla="*/ 4034156 w 4034156"/>
              <a:gd name="connsiteY3" fmla="*/ 494088 h 613164"/>
              <a:gd name="connsiteX4" fmla="*/ 4034156 w 4034156"/>
              <a:gd name="connsiteY4" fmla="*/ 613164 h 613164"/>
              <a:gd name="connsiteX5" fmla="*/ 0 w 4034156"/>
              <a:gd name="connsiteY5" fmla="*/ 613164 h 613164"/>
              <a:gd name="connsiteX6" fmla="*/ 54792 w 4034156"/>
              <a:gd name="connsiteY6" fmla="*/ 512415 h 613164"/>
              <a:gd name="connsiteX7" fmla="*/ 168327 w 4034156"/>
              <a:gd name="connsiteY7" fmla="*/ 366637 h 613164"/>
              <a:gd name="connsiteX8" fmla="*/ 1192562 w 4034156"/>
              <a:gd name="connsiteY8" fmla="*/ 1522 h 613164"/>
              <a:gd name="connsiteX9" fmla="*/ 1479137 w 4034156"/>
              <a:gd name="connsiteY9" fmla="*/ 230 h 613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34156" h="613164">
                <a:moveTo>
                  <a:pt x="1479137" y="230"/>
                </a:moveTo>
                <a:cubicBezTo>
                  <a:pt x="2152575" y="4287"/>
                  <a:pt x="2854487" y="63583"/>
                  <a:pt x="3482844" y="298555"/>
                </a:cubicBezTo>
                <a:cubicBezTo>
                  <a:pt x="3599338" y="342114"/>
                  <a:pt x="3715540" y="384216"/>
                  <a:pt x="3831590" y="425010"/>
                </a:cubicBezTo>
                <a:lnTo>
                  <a:pt x="4034156" y="494088"/>
                </a:lnTo>
                <a:lnTo>
                  <a:pt x="4034156" y="613164"/>
                </a:lnTo>
                <a:lnTo>
                  <a:pt x="0" y="613164"/>
                </a:lnTo>
                <a:lnTo>
                  <a:pt x="54792" y="512415"/>
                </a:lnTo>
                <a:cubicBezTo>
                  <a:pt x="88888" y="459433"/>
                  <a:pt x="126502" y="410480"/>
                  <a:pt x="168327" y="366637"/>
                </a:cubicBezTo>
                <a:cubicBezTo>
                  <a:pt x="428292" y="94062"/>
                  <a:pt x="821899" y="6565"/>
                  <a:pt x="1192562" y="1522"/>
                </a:cubicBezTo>
                <a:cubicBezTo>
                  <a:pt x="1287308" y="198"/>
                  <a:pt x="1382932" y="-349"/>
                  <a:pt x="1479137" y="23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4ABFBEA-4EB0-4D02-A2C0-1733CD3D6F12}"/>
              </a:ext>
            </a:extLst>
          </p:cNvPr>
          <p:cNvSpPr/>
          <p:nvPr/>
        </p:nvSpPr>
        <p:spPr>
          <a:xfrm>
            <a:off x="1" y="688126"/>
            <a:ext cx="448491" cy="1634252"/>
          </a:xfrm>
          <a:custGeom>
            <a:avLst/>
            <a:gdLst>
              <a:gd name="connsiteX0" fmla="*/ 0 w 448491"/>
              <a:gd name="connsiteY0" fmla="*/ 0 h 1634252"/>
              <a:gd name="connsiteX1" fmla="*/ 12983 w 448491"/>
              <a:gd name="connsiteY1" fmla="*/ 10508 h 1634252"/>
              <a:gd name="connsiteX2" fmla="*/ 441611 w 448491"/>
              <a:gd name="connsiteY2" fmla="*/ 863751 h 1634252"/>
              <a:gd name="connsiteX3" fmla="*/ 251011 w 448491"/>
              <a:gd name="connsiteY3" fmla="*/ 1302895 h 1634252"/>
              <a:gd name="connsiteX4" fmla="*/ 74605 w 448491"/>
              <a:gd name="connsiteY4" fmla="*/ 1543249 h 1634252"/>
              <a:gd name="connsiteX5" fmla="*/ 0 w 448491"/>
              <a:gd name="connsiteY5" fmla="*/ 1634252 h 1634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8491" h="1634252">
                <a:moveTo>
                  <a:pt x="0" y="0"/>
                </a:moveTo>
                <a:lnTo>
                  <a:pt x="12983" y="10508"/>
                </a:lnTo>
                <a:cubicBezTo>
                  <a:pt x="278410" y="241022"/>
                  <a:pt x="489787" y="530267"/>
                  <a:pt x="441611" y="863751"/>
                </a:cubicBezTo>
                <a:cubicBezTo>
                  <a:pt x="418542" y="1022632"/>
                  <a:pt x="337007" y="1166302"/>
                  <a:pt x="251011" y="1302895"/>
                </a:cubicBezTo>
                <a:cubicBezTo>
                  <a:pt x="215138" y="1359902"/>
                  <a:pt x="154723" y="1442480"/>
                  <a:pt x="74605" y="1543249"/>
                </a:cubicBezTo>
                <a:lnTo>
                  <a:pt x="0" y="163425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900">
              <a:solidFill>
                <a:prstClr val="white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9E083F6-57F4-487B-A766-EA0462B1EED8}"/>
              </a:ext>
            </a:extLst>
          </p:cNvPr>
          <p:cNvSpPr/>
          <p:nvPr/>
        </p:nvSpPr>
        <p:spPr>
          <a:xfrm>
            <a:off x="7309459" y="6144069"/>
            <a:ext cx="4418271" cy="718159"/>
          </a:xfrm>
          <a:custGeom>
            <a:avLst/>
            <a:gdLst>
              <a:gd name="connsiteX0" fmla="*/ 1421452 w 4590626"/>
              <a:gd name="connsiteY0" fmla="*/ 0 h 713930"/>
              <a:gd name="connsiteX1" fmla="*/ 3247781 w 4590626"/>
              <a:gd name="connsiteY1" fmla="*/ 271915 h 713930"/>
              <a:gd name="connsiteX2" fmla="*/ 4517331 w 4590626"/>
              <a:gd name="connsiteY2" fmla="*/ 693394 h 713930"/>
              <a:gd name="connsiteX3" fmla="*/ 4590626 w 4590626"/>
              <a:gd name="connsiteY3" fmla="*/ 713930 h 713930"/>
              <a:gd name="connsiteX4" fmla="*/ 0 w 4590626"/>
              <a:gd name="connsiteY4" fmla="*/ 713930 h 713930"/>
              <a:gd name="connsiteX5" fmla="*/ 2854 w 4590626"/>
              <a:gd name="connsiteY5" fmla="*/ 705624 h 713930"/>
              <a:gd name="connsiteX6" fmla="*/ 226680 w 4590626"/>
              <a:gd name="connsiteY6" fmla="*/ 333970 h 713930"/>
              <a:gd name="connsiteX7" fmla="*/ 1160245 w 4590626"/>
              <a:gd name="connsiteY7" fmla="*/ 1178 h 713930"/>
              <a:gd name="connsiteX8" fmla="*/ 1421452 w 4590626"/>
              <a:gd name="connsiteY8" fmla="*/ 0 h 713930"/>
              <a:gd name="connsiteX0" fmla="*/ 1421452 w 4517331"/>
              <a:gd name="connsiteY0" fmla="*/ 0 h 713930"/>
              <a:gd name="connsiteX1" fmla="*/ 3247781 w 4517331"/>
              <a:gd name="connsiteY1" fmla="*/ 271915 h 713930"/>
              <a:gd name="connsiteX2" fmla="*/ 4517331 w 4517331"/>
              <a:gd name="connsiteY2" fmla="*/ 693394 h 713930"/>
              <a:gd name="connsiteX3" fmla="*/ 0 w 4517331"/>
              <a:gd name="connsiteY3" fmla="*/ 713930 h 713930"/>
              <a:gd name="connsiteX4" fmla="*/ 2854 w 4517331"/>
              <a:gd name="connsiteY4" fmla="*/ 705624 h 713930"/>
              <a:gd name="connsiteX5" fmla="*/ 226680 w 4517331"/>
              <a:gd name="connsiteY5" fmla="*/ 333970 h 713930"/>
              <a:gd name="connsiteX6" fmla="*/ 1160245 w 4517331"/>
              <a:gd name="connsiteY6" fmla="*/ 1178 h 713930"/>
              <a:gd name="connsiteX7" fmla="*/ 1421452 w 4517331"/>
              <a:gd name="connsiteY7" fmla="*/ 0 h 713930"/>
              <a:gd name="connsiteX0" fmla="*/ 0 w 4608771"/>
              <a:gd name="connsiteY0" fmla="*/ 713930 h 784834"/>
              <a:gd name="connsiteX1" fmla="*/ 2854 w 4608771"/>
              <a:gd name="connsiteY1" fmla="*/ 705624 h 784834"/>
              <a:gd name="connsiteX2" fmla="*/ 226680 w 4608771"/>
              <a:gd name="connsiteY2" fmla="*/ 333970 h 784834"/>
              <a:gd name="connsiteX3" fmla="*/ 1160245 w 4608771"/>
              <a:gd name="connsiteY3" fmla="*/ 1178 h 784834"/>
              <a:gd name="connsiteX4" fmla="*/ 1421452 w 4608771"/>
              <a:gd name="connsiteY4" fmla="*/ 0 h 784834"/>
              <a:gd name="connsiteX5" fmla="*/ 3247781 w 4608771"/>
              <a:gd name="connsiteY5" fmla="*/ 271915 h 784834"/>
              <a:gd name="connsiteX6" fmla="*/ 4608771 w 4608771"/>
              <a:gd name="connsiteY6" fmla="*/ 784834 h 784834"/>
              <a:gd name="connsiteX0" fmla="*/ 0 w 4418271"/>
              <a:gd name="connsiteY0" fmla="*/ 713930 h 718159"/>
              <a:gd name="connsiteX1" fmla="*/ 2854 w 4418271"/>
              <a:gd name="connsiteY1" fmla="*/ 705624 h 718159"/>
              <a:gd name="connsiteX2" fmla="*/ 226680 w 4418271"/>
              <a:gd name="connsiteY2" fmla="*/ 333970 h 718159"/>
              <a:gd name="connsiteX3" fmla="*/ 1160245 w 4418271"/>
              <a:gd name="connsiteY3" fmla="*/ 1178 h 718159"/>
              <a:gd name="connsiteX4" fmla="*/ 1421452 w 4418271"/>
              <a:gd name="connsiteY4" fmla="*/ 0 h 718159"/>
              <a:gd name="connsiteX5" fmla="*/ 3247781 w 4418271"/>
              <a:gd name="connsiteY5" fmla="*/ 271915 h 718159"/>
              <a:gd name="connsiteX6" fmla="*/ 4418271 w 4418271"/>
              <a:gd name="connsiteY6" fmla="*/ 718159 h 718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18271" h="718159">
                <a:moveTo>
                  <a:pt x="0" y="713930"/>
                </a:moveTo>
                <a:lnTo>
                  <a:pt x="2854" y="705624"/>
                </a:lnTo>
                <a:cubicBezTo>
                  <a:pt x="60059" y="562888"/>
                  <a:pt x="131373" y="433874"/>
                  <a:pt x="226680" y="333970"/>
                </a:cubicBezTo>
                <a:cubicBezTo>
                  <a:pt x="463632" y="85526"/>
                  <a:pt x="822395" y="5774"/>
                  <a:pt x="1160245" y="1178"/>
                </a:cubicBezTo>
                <a:lnTo>
                  <a:pt x="1421452" y="0"/>
                </a:lnTo>
                <a:cubicBezTo>
                  <a:pt x="2035274" y="3698"/>
                  <a:pt x="2748311" y="152222"/>
                  <a:pt x="3247781" y="271915"/>
                </a:cubicBezTo>
                <a:cubicBezTo>
                  <a:pt x="3747251" y="391608"/>
                  <a:pt x="3902480" y="501606"/>
                  <a:pt x="4418271" y="718159"/>
                </a:cubicBezTo>
              </a:path>
            </a:pathLst>
          </a:cu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A2F988-7148-4375-83D8-12EE5EBC7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2000"/>
            <a:ext cx="106680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896238-C5B3-4F3C-97FA-890E1A51A2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2286000"/>
            <a:ext cx="10668000" cy="38180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E4474-0442-4E4B-9E5B-CA7B3951C1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389165" y="194320"/>
            <a:ext cx="20408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  <a:alpha val="70000"/>
                  </a:schemeClr>
                </a:solidFill>
              </a:defRPr>
            </a:lvl1pPr>
          </a:lstStyle>
          <a:p>
            <a:fld id="{76969C88-B244-455D-A017-012B25B1ACDD}" type="datetimeFigureOut">
              <a:rPr lang="en-US" smtClean="0"/>
              <a:pPr/>
              <a:t>8/7/2021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626A98-F887-40E1-B9BA-9D93DE90E0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1999" y="6356350"/>
            <a:ext cx="66128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2C8119-73F6-4713-9AD3-3628DCDFB8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06000" y="6356350"/>
            <a:ext cx="1524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  <a:alpha val="70000"/>
                  </a:schemeClr>
                </a:solidFill>
              </a:defRPr>
            </a:lvl1pPr>
          </a:lstStyle>
          <a:p>
            <a:fld id="{07CE569E-9B7C-4CB9-AB80-C0841F922C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21515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1" r:id="rId6"/>
    <p:sldLayoutId id="2147483727" r:id="rId7"/>
    <p:sldLayoutId id="2147483728" r:id="rId8"/>
    <p:sldLayoutId id="2147483729" r:id="rId9"/>
    <p:sldLayoutId id="2147483730" r:id="rId10"/>
    <p:sldLayoutId id="214748373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5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1B3FE-EBA6-48A2-858C-2D0DA748E1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0" y="1524000"/>
            <a:ext cx="4572000" cy="2286000"/>
          </a:xfrm>
          <a:solidFill>
            <a:srgbClr val="001F60"/>
          </a:solidFill>
          <a:effectLst>
            <a:outerShdw blurRad="63500" dist="508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pPr algn="l"/>
            <a:r>
              <a:rPr lang="en-US" sz="4400" dirty="0"/>
              <a:t>Domestic Aid &amp; Surveillance through Raspberry Pi</a:t>
            </a:r>
            <a:endParaRPr lang="en-GB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86DEDB-2D8E-4E0F-AF32-7EFA261A32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43676" y="4034900"/>
            <a:ext cx="5264458" cy="2419165"/>
          </a:xfrm>
          <a:gradFill flip="none" rotWithShape="1">
            <a:gsLst>
              <a:gs pos="0">
                <a:srgbClr val="B4BD95">
                  <a:tint val="66000"/>
                  <a:satMod val="160000"/>
                </a:srgbClr>
              </a:gs>
              <a:gs pos="50000">
                <a:srgbClr val="B4BD95">
                  <a:tint val="44500"/>
                  <a:satMod val="160000"/>
                </a:srgbClr>
              </a:gs>
              <a:gs pos="100000">
                <a:srgbClr val="B4BD95">
                  <a:tint val="23500"/>
                  <a:satMod val="160000"/>
                </a:srgbClr>
              </a:gs>
            </a:gsLst>
            <a:path path="circle">
              <a:fillToRect l="100000" t="100000"/>
            </a:path>
            <a:tileRect r="-100000" b="-100000"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l"/>
            <a:r>
              <a:rPr lang="en-US" dirty="0">
                <a:solidFill>
                  <a:srgbClr val="001F60">
                    <a:alpha val="70000"/>
                  </a:srgbClr>
                </a:solidFill>
                <a:effectLst>
                  <a:outerShdw blurRad="50800" dist="38100" dir="2700000" algn="tl" rotWithShape="0">
                    <a:schemeClr val="tx1">
                      <a:lumMod val="75000"/>
                      <a:alpha val="40000"/>
                    </a:schemeClr>
                  </a:outerShdw>
                </a:effectLst>
                <a:latin typeface="Cambria Math" panose="02040503050406030204" pitchFamily="18" charset="0"/>
                <a:ea typeface="Cambria Math" panose="02040503050406030204" pitchFamily="18" charset="0"/>
              </a:rPr>
              <a:t>Supervised By:- Prof. Deepak Nagaria</a:t>
            </a:r>
          </a:p>
          <a:p>
            <a:r>
              <a:rPr lang="en-US" sz="2200" dirty="0">
                <a:solidFill>
                  <a:srgbClr val="001F60">
                    <a:alpha val="70000"/>
                  </a:srgbClr>
                </a:solidFill>
                <a:effectLst>
                  <a:outerShdw blurRad="50800" dist="38100" dir="2700000" algn="tl" rotWithShape="0">
                    <a:schemeClr val="tx1">
                      <a:lumMod val="75000"/>
                      <a:alpha val="40000"/>
                    </a:schemeClr>
                  </a:outerShdw>
                </a:effectLst>
                <a:latin typeface="Cambria Math" panose="02040503050406030204" pitchFamily="18" charset="0"/>
                <a:ea typeface="Cambria Math" panose="02040503050406030204" pitchFamily="18" charset="0"/>
              </a:rPr>
              <a:t>Submitted By-</a:t>
            </a: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sz="1700" dirty="0">
                <a:solidFill>
                  <a:srgbClr val="001F60">
                    <a:alpha val="70000"/>
                  </a:srgbClr>
                </a:solidFill>
                <a:effectLst>
                  <a:outerShdw blurRad="50800" dist="38100" dir="2700000" algn="tl" rotWithShape="0">
                    <a:schemeClr val="tx1">
                      <a:lumMod val="75000"/>
                      <a:alpha val="40000"/>
                    </a:schemeClr>
                  </a:outerShdw>
                </a:effectLst>
                <a:latin typeface="Cambria Math" panose="02040503050406030204" pitchFamily="18" charset="0"/>
                <a:ea typeface="Cambria Math" panose="02040503050406030204" pitchFamily="18" charset="0"/>
              </a:rPr>
              <a:t>Prashant Kushwaha (1704331036)</a:t>
            </a: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sz="1700" dirty="0">
                <a:solidFill>
                  <a:srgbClr val="001F60">
                    <a:alpha val="70000"/>
                  </a:srgbClr>
                </a:solidFill>
                <a:effectLst>
                  <a:outerShdw blurRad="50800" dist="38100" dir="2700000" algn="tl" rotWithShape="0">
                    <a:schemeClr val="tx1">
                      <a:lumMod val="75000"/>
                      <a:alpha val="40000"/>
                    </a:schemeClr>
                  </a:outerShdw>
                </a:effectLst>
                <a:latin typeface="Cambria Math" panose="02040503050406030204" pitchFamily="18" charset="0"/>
                <a:ea typeface="Cambria Math" panose="02040503050406030204" pitchFamily="18" charset="0"/>
              </a:rPr>
              <a:t>Saurabh Singh (1704331047)</a:t>
            </a: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sz="1700" dirty="0">
                <a:solidFill>
                  <a:srgbClr val="001F60">
                    <a:alpha val="70000"/>
                  </a:srgbClr>
                </a:solidFill>
                <a:effectLst>
                  <a:outerShdw blurRad="50800" dist="38100" dir="2700000" algn="tl" rotWithShape="0">
                    <a:schemeClr val="tx1">
                      <a:lumMod val="75000"/>
                      <a:alpha val="40000"/>
                    </a:schemeClr>
                  </a:outerShdw>
                </a:effectLst>
                <a:latin typeface="Cambria Math" panose="02040503050406030204" pitchFamily="18" charset="0"/>
                <a:ea typeface="Cambria Math" panose="02040503050406030204" pitchFamily="18" charset="0"/>
              </a:rPr>
              <a:t>Atul Tomar (1704331016)</a:t>
            </a:r>
            <a:endParaRPr lang="en-GB" sz="1700" dirty="0">
              <a:solidFill>
                <a:srgbClr val="001F60">
                  <a:alpha val="70000"/>
                </a:srgbClr>
              </a:solidFill>
              <a:effectLst>
                <a:outerShdw blurRad="50800" dist="38100" dir="2700000" algn="tl" rotWithShape="0">
                  <a:schemeClr val="tx1">
                    <a:lumMod val="75000"/>
                    <a:alpha val="40000"/>
                  </a:schemeClr>
                </a:outerShdw>
              </a:effectLst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8E9D82-BC6E-4905-9B31-32B1D5772C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30" r="22530"/>
          <a:stretch/>
        </p:blipFill>
        <p:spPr>
          <a:xfrm>
            <a:off x="-8" y="762006"/>
            <a:ext cx="5948805" cy="6095979"/>
          </a:xfrm>
          <a:custGeom>
            <a:avLst/>
            <a:gdLst/>
            <a:ahLst/>
            <a:cxnLst/>
            <a:rect l="l" t="t" r="r" b="b"/>
            <a:pathLst>
              <a:path w="5948805" h="6095979">
                <a:moveTo>
                  <a:pt x="1573832" y="765"/>
                </a:moveTo>
                <a:cubicBezTo>
                  <a:pt x="1940190" y="-10734"/>
                  <a:pt x="2329345" y="109280"/>
                  <a:pt x="2734663" y="238687"/>
                </a:cubicBezTo>
                <a:cubicBezTo>
                  <a:pt x="4118244" y="680647"/>
                  <a:pt x="5296697" y="1302752"/>
                  <a:pt x="5668316" y="3639516"/>
                </a:cubicBezTo>
                <a:cubicBezTo>
                  <a:pt x="5788298" y="4393559"/>
                  <a:pt x="5890546" y="5142244"/>
                  <a:pt x="5937022" y="5865869"/>
                </a:cubicBezTo>
                <a:lnTo>
                  <a:pt x="5948805" y="6095979"/>
                </a:lnTo>
                <a:lnTo>
                  <a:pt x="0" y="6095979"/>
                </a:lnTo>
                <a:lnTo>
                  <a:pt x="0" y="1621672"/>
                </a:lnTo>
                <a:lnTo>
                  <a:pt x="36310" y="1518814"/>
                </a:lnTo>
                <a:cubicBezTo>
                  <a:pt x="109805" y="1321982"/>
                  <a:pt x="192755" y="1133640"/>
                  <a:pt x="287891" y="956872"/>
                </a:cubicBezTo>
                <a:cubicBezTo>
                  <a:pt x="669453" y="247734"/>
                  <a:pt x="1102800" y="15549"/>
                  <a:pt x="1573832" y="765"/>
                </a:cubicBezTo>
                <a:close/>
              </a:path>
            </a:pathLst>
          </a:custGeom>
          <a:effectLst/>
        </p:spPr>
      </p:pic>
    </p:spTree>
    <p:extLst>
      <p:ext uri="{BB962C8B-B14F-4D97-AF65-F5344CB8AC3E}">
        <p14:creationId xmlns:p14="http://schemas.microsoft.com/office/powerpoint/2010/main" val="25286892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27AB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EE4E0-77D0-41B3-9512-816867995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Contents</a:t>
            </a:r>
            <a:endParaRPr lang="en-GB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1300E6-CAC5-4C14-825C-27BDA02CA3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n-US" sz="4900" dirty="0">
                <a:solidFill>
                  <a:schemeClr val="tx1"/>
                </a:solidFill>
              </a:rPr>
              <a:t>Introduction</a:t>
            </a:r>
          </a:p>
          <a:p>
            <a:r>
              <a:rPr lang="en-US" sz="4900" dirty="0">
                <a:solidFill>
                  <a:schemeClr val="tx1"/>
                </a:solidFill>
              </a:rPr>
              <a:t>Objectives</a:t>
            </a:r>
          </a:p>
          <a:p>
            <a:r>
              <a:rPr lang="en-US" sz="4900" dirty="0">
                <a:solidFill>
                  <a:schemeClr val="tx1"/>
                </a:solidFill>
              </a:rPr>
              <a:t>Literature Review</a:t>
            </a:r>
          </a:p>
          <a:p>
            <a:r>
              <a:rPr lang="en-US" sz="4900" dirty="0">
                <a:solidFill>
                  <a:schemeClr val="tx1"/>
                </a:solidFill>
              </a:rPr>
              <a:t>Problem Identification</a:t>
            </a:r>
          </a:p>
          <a:p>
            <a:r>
              <a:rPr lang="en-US" sz="4900" dirty="0">
                <a:solidFill>
                  <a:schemeClr val="tx1"/>
                </a:solidFill>
              </a:rPr>
              <a:t>Methodology</a:t>
            </a:r>
          </a:p>
          <a:p>
            <a:r>
              <a:rPr lang="en-US" sz="4900" dirty="0">
                <a:solidFill>
                  <a:schemeClr val="tx1"/>
                </a:solidFill>
              </a:rPr>
              <a:t>Schematic Circuit Diagram</a:t>
            </a:r>
          </a:p>
          <a:p>
            <a:r>
              <a:rPr lang="en-US" sz="4900" dirty="0">
                <a:solidFill>
                  <a:schemeClr val="tx1"/>
                </a:solidFill>
              </a:rPr>
              <a:t>Block Diagram</a:t>
            </a:r>
          </a:p>
          <a:p>
            <a:r>
              <a:rPr lang="en-US" sz="4900" dirty="0">
                <a:solidFill>
                  <a:schemeClr val="tx1"/>
                </a:solidFill>
              </a:rPr>
              <a:t>Result &amp; Discussion</a:t>
            </a:r>
          </a:p>
          <a:p>
            <a:r>
              <a:rPr lang="en-US" sz="4900" dirty="0">
                <a:solidFill>
                  <a:schemeClr val="tx1"/>
                </a:solidFill>
              </a:rPr>
              <a:t>Conclusion</a:t>
            </a:r>
          </a:p>
          <a:p>
            <a:r>
              <a:rPr lang="en-US" sz="4900" dirty="0">
                <a:solidFill>
                  <a:schemeClr val="tx1"/>
                </a:solidFill>
              </a:rPr>
              <a:t>References</a:t>
            </a:r>
          </a:p>
          <a:p>
            <a:endParaRPr lang="en-US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76934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4BB68-E779-4350-B1FA-662CB6ADC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1F568C-884F-4D60-8719-CAF921895F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0" i="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A home automation system </a:t>
            </a:r>
            <a:r>
              <a:rPr lang="en-US" sz="2400" dirty="0">
                <a:solidFill>
                  <a:schemeClr val="tx1"/>
                </a:solidFill>
                <a:cs typeface="Times New Roman" panose="02020603050405020304" pitchFamily="18" charset="0"/>
              </a:rPr>
              <a:t>can</a:t>
            </a:r>
            <a:r>
              <a:rPr lang="en-US" sz="2400" b="0" i="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 monitor and/</a:t>
            </a:r>
            <a:r>
              <a:rPr lang="en-US" sz="2400" dirty="0">
                <a:solidFill>
                  <a:schemeClr val="tx1"/>
                </a:solidFill>
                <a:cs typeface="Times New Roman" panose="02020603050405020304" pitchFamily="18" charset="0"/>
              </a:rPr>
              <a:t>or</a:t>
            </a:r>
            <a:r>
              <a:rPr lang="en-US" sz="2400" b="0" i="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 control home attributes such as lighting, climate, entertainment systems, and appliances</a:t>
            </a:r>
            <a:r>
              <a:rPr lang="en-US" sz="2400" b="0" i="0" dirty="0">
                <a:solidFill>
                  <a:schemeClr val="tx1"/>
                </a:solidFill>
                <a:effectLst/>
              </a:rPr>
              <a:t>.</a:t>
            </a:r>
          </a:p>
          <a:p>
            <a:r>
              <a:rPr lang="en-US" sz="2400" dirty="0"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Smarter home and surroundings can be achieved through the interfacing different kinds of sensors .</a:t>
            </a:r>
          </a:p>
          <a:p>
            <a:r>
              <a:rPr lang="en-US" sz="2400" b="0" i="0" dirty="0"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It also include home security such as access control and alert systems.</a:t>
            </a:r>
            <a:endParaRPr lang="en-US" sz="2400" dirty="0">
              <a:solidFill>
                <a:schemeClr val="tx1"/>
              </a:solidFill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240248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2E550-E213-43D6-9C58-BB5A2F40F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DC93D8-CABA-4279-9B49-FBAD4FA061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0" dirty="0">
                <a:solidFill>
                  <a:schemeClr val="tx1"/>
                </a:solidFill>
                <a:effectLst/>
              </a:rPr>
              <a:t>Provides better care to family</a:t>
            </a:r>
          </a:p>
          <a:p>
            <a:r>
              <a:rPr lang="en-GB" i="0" dirty="0">
                <a:solidFill>
                  <a:schemeClr val="tx1"/>
                </a:solidFill>
                <a:effectLst/>
              </a:rPr>
              <a:t>Improved productivity</a:t>
            </a:r>
          </a:p>
          <a:p>
            <a:r>
              <a:rPr lang="en-GB" i="0" dirty="0">
                <a:solidFill>
                  <a:schemeClr val="tx1"/>
                </a:solidFill>
                <a:effectLst/>
              </a:rPr>
              <a:t>Helps in reducing power consumption</a:t>
            </a:r>
          </a:p>
          <a:p>
            <a:r>
              <a:rPr lang="en-GB" i="0" dirty="0">
                <a:solidFill>
                  <a:schemeClr val="tx1"/>
                </a:solidFill>
                <a:effectLst/>
              </a:rPr>
              <a:t>Helps in developing secure </a:t>
            </a:r>
            <a:r>
              <a:rPr lang="en-GB" dirty="0">
                <a:solidFill>
                  <a:schemeClr val="tx1"/>
                </a:solidFill>
              </a:rPr>
              <a:t>domestic environment</a:t>
            </a:r>
            <a:endParaRPr lang="en-GB" i="0" dirty="0">
              <a:solidFill>
                <a:schemeClr val="tx1"/>
              </a:solidFill>
              <a:effectLst/>
            </a:endParaRPr>
          </a:p>
          <a:p>
            <a:endParaRPr lang="en-GB" i="0" dirty="0">
              <a:solidFill>
                <a:schemeClr val="tx1"/>
              </a:solidFill>
              <a:effectLst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003661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7DEE2-37F9-46D4-801A-92CA78060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Literature Review</a:t>
            </a:r>
            <a:endParaRPr lang="en-GB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D609103A-D5B2-465D-A9D7-2141DB7BEF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48816877"/>
              </p:ext>
            </p:extLst>
          </p:nvPr>
        </p:nvGraphicFramePr>
        <p:xfrm>
          <a:off x="762000" y="2286000"/>
          <a:ext cx="10668000" cy="347980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297619">
                  <a:extLst>
                    <a:ext uri="{9D8B030D-6E8A-4147-A177-3AD203B41FA5}">
                      <a16:colId xmlns:a16="http://schemas.microsoft.com/office/drawing/2014/main" val="94101774"/>
                    </a:ext>
                  </a:extLst>
                </a:gridCol>
                <a:gridCol w="4036381">
                  <a:extLst>
                    <a:ext uri="{9D8B030D-6E8A-4147-A177-3AD203B41FA5}">
                      <a16:colId xmlns:a16="http://schemas.microsoft.com/office/drawing/2014/main" val="3564759415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51816846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38446929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S. No.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Authors, Title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Publication Details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Key Findings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63699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1.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GB" sz="1800" b="0" kern="1200" dirty="0" err="1">
                          <a:solidFill>
                            <a:schemeClr val="tx1"/>
                          </a:solidFill>
                          <a:effectLst/>
                        </a:rPr>
                        <a:t>Nadaf</a:t>
                      </a:r>
                      <a:r>
                        <a:rPr lang="en-GB" sz="1800" b="0" kern="1200" dirty="0">
                          <a:solidFill>
                            <a:schemeClr val="tx1"/>
                          </a:solidFill>
                          <a:effectLst/>
                        </a:rPr>
                        <a:t> R.A., </a:t>
                      </a:r>
                      <a:r>
                        <a:rPr lang="en-GB" sz="1800" b="0" kern="1200" dirty="0" err="1">
                          <a:solidFill>
                            <a:schemeClr val="tx1"/>
                          </a:solidFill>
                          <a:effectLst/>
                        </a:rPr>
                        <a:t>Hatture</a:t>
                      </a:r>
                      <a:r>
                        <a:rPr lang="en-GB" sz="1800" b="0" kern="1200" dirty="0">
                          <a:solidFill>
                            <a:schemeClr val="tx1"/>
                          </a:solidFill>
                          <a:effectLst/>
                        </a:rPr>
                        <a:t> S., </a:t>
                      </a:r>
                      <a:r>
                        <a:rPr lang="en-GB" sz="1800" b="0" kern="1200" dirty="0" err="1">
                          <a:solidFill>
                            <a:schemeClr val="tx1"/>
                          </a:solidFill>
                          <a:effectLst/>
                        </a:rPr>
                        <a:t>Challigidad</a:t>
                      </a:r>
                      <a:r>
                        <a:rPr lang="en-GB" sz="1800" b="0" kern="1200" dirty="0">
                          <a:solidFill>
                            <a:schemeClr val="tx1"/>
                          </a:solidFill>
                          <a:effectLst/>
                        </a:rPr>
                        <a:t> P.S., </a:t>
                      </a:r>
                      <a:r>
                        <a:rPr lang="en-GB" sz="1800" b="0" kern="1200" dirty="0" err="1">
                          <a:solidFill>
                            <a:schemeClr val="tx1"/>
                          </a:solidFill>
                          <a:effectLst/>
                        </a:rPr>
                        <a:t>Bonal</a:t>
                      </a:r>
                      <a:r>
                        <a:rPr lang="en-GB" sz="1800" b="0" kern="1200" dirty="0">
                          <a:solidFill>
                            <a:schemeClr val="tx1"/>
                          </a:solidFill>
                          <a:effectLst/>
                        </a:rPr>
                        <a:t> V.M. (2019) Smart Mirror Using Raspberry Pi for Human Monitoring and Home Security.</a:t>
                      </a:r>
                      <a:endParaRPr lang="en-GB" sz="18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kern="1200" dirty="0">
                          <a:solidFill>
                            <a:schemeClr val="dk1"/>
                          </a:solidFill>
                          <a:effectLst/>
                        </a:rPr>
                        <a:t> </a:t>
                      </a:r>
                      <a:r>
                        <a:rPr lang="en-GB" sz="1800" b="0" kern="1200" dirty="0" err="1">
                          <a:solidFill>
                            <a:schemeClr val="tx1"/>
                          </a:solidFill>
                          <a:effectLst/>
                        </a:rPr>
                        <a:t>Luhach</a:t>
                      </a:r>
                      <a:r>
                        <a:rPr lang="en-GB" sz="1800" b="0" kern="1200" dirty="0">
                          <a:solidFill>
                            <a:schemeClr val="tx1"/>
                          </a:solidFill>
                          <a:effectLst/>
                        </a:rPr>
                        <a:t> A., </a:t>
                      </a:r>
                      <a:r>
                        <a:rPr lang="en-GB" sz="1800" b="0" kern="1200" dirty="0" err="1">
                          <a:solidFill>
                            <a:schemeClr val="tx1"/>
                          </a:solidFill>
                          <a:effectLst/>
                        </a:rPr>
                        <a:t>Jat</a:t>
                      </a:r>
                      <a:r>
                        <a:rPr lang="en-GB" sz="1800" b="0" kern="1200" dirty="0">
                          <a:solidFill>
                            <a:schemeClr val="tx1"/>
                          </a:solidFill>
                          <a:effectLst/>
                        </a:rPr>
                        <a:t> D., </a:t>
                      </a:r>
                      <a:r>
                        <a:rPr lang="en-GB" sz="1800" b="0" kern="1200" dirty="0" err="1">
                          <a:solidFill>
                            <a:schemeClr val="tx1"/>
                          </a:solidFill>
                          <a:effectLst/>
                        </a:rPr>
                        <a:t>Hawari</a:t>
                      </a:r>
                      <a:r>
                        <a:rPr lang="en-GB" sz="1800" b="0" kern="1200" dirty="0">
                          <a:solidFill>
                            <a:schemeClr val="tx1"/>
                          </a:solidFill>
                          <a:effectLst/>
                        </a:rPr>
                        <a:t> K., Gao XZ., </a:t>
                      </a:r>
                      <a:r>
                        <a:rPr lang="en-GB" sz="1800" b="0" kern="1200" dirty="0" err="1">
                          <a:solidFill>
                            <a:schemeClr val="tx1"/>
                          </a:solidFill>
                          <a:effectLst/>
                        </a:rPr>
                        <a:t>Lingras</a:t>
                      </a:r>
                      <a:r>
                        <a:rPr lang="en-GB" sz="1800" b="0" kern="1200" dirty="0">
                          <a:solidFill>
                            <a:schemeClr val="tx1"/>
                          </a:solidFill>
                          <a:effectLst/>
                        </a:rPr>
                        <a:t> P. (eds) Advanced Informatics for Computing Research. ICAICR 2019. Communications in Computer and Information Science, vol 1076. Springer, Singapore.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Any human intrusion can be monitored and user can be alerted.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9837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8549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71EE7-57A0-468E-A354-4EE73F885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Identification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717F57-3667-463C-9CCB-AC9BBA6E48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There is not any model available which provides surveillance and switching capabilities simultaneously.</a:t>
            </a:r>
          </a:p>
          <a:p>
            <a:r>
              <a:rPr lang="en-US" dirty="0">
                <a:solidFill>
                  <a:schemeClr val="tx1"/>
                </a:solidFill>
              </a:rPr>
              <a:t>Various available systems aim at single task only. </a:t>
            </a:r>
          </a:p>
        </p:txBody>
      </p:sp>
    </p:spTree>
    <p:extLst>
      <p:ext uri="{BB962C8B-B14F-4D97-AF65-F5344CB8AC3E}">
        <p14:creationId xmlns:p14="http://schemas.microsoft.com/office/powerpoint/2010/main" val="3461919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5184B-B50F-4B9E-8F9D-993000ED0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BEC9D9-653C-4EB5-8EEA-629C54D3E6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We are using Raspberry Pi (Model B+) board, which is quite fast.</a:t>
            </a:r>
          </a:p>
          <a:p>
            <a:r>
              <a:rPr lang="en-US" dirty="0">
                <a:solidFill>
                  <a:schemeClr val="tx1"/>
                </a:solidFill>
              </a:rPr>
              <a:t>We can interface sensors (like temp. sensors, PIR sensors and Camera, etc.) to gather data to give optimized output.</a:t>
            </a:r>
          </a:p>
          <a:p>
            <a:r>
              <a:rPr lang="en-US" dirty="0">
                <a:solidFill>
                  <a:schemeClr val="tx1"/>
                </a:solidFill>
              </a:rPr>
              <a:t>Setting up the server.</a:t>
            </a:r>
          </a:p>
          <a:p>
            <a:r>
              <a:rPr lang="en-US" dirty="0">
                <a:solidFill>
                  <a:schemeClr val="tx1"/>
                </a:solidFill>
              </a:rPr>
              <a:t>Handling data(s) through web-application.</a:t>
            </a: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22273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E83F9-9537-43D2-8DF9-4C42CBF73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Schematic Circuit Diagram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5D46E34-0250-4723-817D-8446DCE945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1157" y="1897250"/>
            <a:ext cx="6553213" cy="4618959"/>
          </a:xfrm>
        </p:spPr>
      </p:pic>
    </p:spTree>
    <p:extLst>
      <p:ext uri="{BB962C8B-B14F-4D97-AF65-F5344CB8AC3E}">
        <p14:creationId xmlns:p14="http://schemas.microsoft.com/office/powerpoint/2010/main" val="16181157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689D8-5789-480D-A72C-540B1E3A9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Diagram</a:t>
            </a:r>
            <a:endParaRPr lang="en-GB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F4683B9-631B-4F24-B188-7C35605D3D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0339" y="972223"/>
            <a:ext cx="8107058" cy="6078150"/>
          </a:xfrm>
        </p:spPr>
      </p:pic>
    </p:spTree>
    <p:extLst>
      <p:ext uri="{BB962C8B-B14F-4D97-AF65-F5344CB8AC3E}">
        <p14:creationId xmlns:p14="http://schemas.microsoft.com/office/powerpoint/2010/main" val="35757176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D4F0E-C2DD-415F-9D05-ED1035695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&amp; Discussion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6EDC7C-5A74-454D-860B-26F11A604C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This project is undeniably a resource which can make a home environment automated.</a:t>
            </a:r>
          </a:p>
          <a:p>
            <a:r>
              <a:rPr lang="en-US" dirty="0">
                <a:solidFill>
                  <a:schemeClr val="tx1"/>
                </a:solidFill>
              </a:rPr>
              <a:t>We are able to keep track of any intrusion within our premises quite easily.</a:t>
            </a:r>
          </a:p>
          <a:p>
            <a:r>
              <a:rPr lang="en-US" dirty="0">
                <a:solidFill>
                  <a:schemeClr val="tx1"/>
                </a:solidFill>
              </a:rPr>
              <a:t>Project like this come with a  huge potential in marketing sector.</a:t>
            </a: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46794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7304A-A493-404A-B353-8CCB50C3D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&amp; Discussion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A9464BDA-FA6A-498D-8B07-ABF8950F5B9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29940517"/>
              </p:ext>
            </p:extLst>
          </p:nvPr>
        </p:nvGraphicFramePr>
        <p:xfrm>
          <a:off x="762000" y="2240921"/>
          <a:ext cx="10668000" cy="385064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2133600">
                  <a:extLst>
                    <a:ext uri="{9D8B030D-6E8A-4147-A177-3AD203B41FA5}">
                      <a16:colId xmlns:a16="http://schemas.microsoft.com/office/drawing/2014/main" val="229566121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3607143867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129718737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384586366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30274323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Criterion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Domestic Aid &amp; Surveillance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Smart Mirror</a:t>
                      </a:r>
                    </a:p>
                    <a:p>
                      <a:pPr algn="ctr"/>
                      <a:r>
                        <a:rPr lang="en-US" dirty="0"/>
                        <a:t>(base)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Various Available Home Automation Projects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Various Available Surveillance / Security Systems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08978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2060"/>
                          </a:solidFill>
                        </a:rPr>
                        <a:t>Remotely Accessible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53954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2060"/>
                          </a:solidFill>
                        </a:rPr>
                        <a:t>Circuit Controllability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80654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2060"/>
                          </a:solidFill>
                        </a:rPr>
                        <a:t>Circuit Monitoring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15069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2060"/>
                          </a:solidFill>
                        </a:rPr>
                        <a:t>Streaming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32333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2060"/>
                          </a:solidFill>
                        </a:rPr>
                        <a:t>Reliability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80242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29778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717DA-D08F-46EC-A48C-7B797205D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Output</a:t>
            </a:r>
            <a:endParaRPr lang="en-GB" dirty="0"/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E8705AEF-C3B4-40F5-A850-CAD8D77165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50" t="8255" r="9147" b="8501"/>
          <a:stretch/>
        </p:blipFill>
        <p:spPr>
          <a:xfrm>
            <a:off x="577049" y="2379214"/>
            <a:ext cx="5302930" cy="3178207"/>
          </a:xfr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470B4A3-5C03-43D4-B1E5-5BC27C2A02D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46" t="8544" r="8835" b="8479"/>
          <a:stretch/>
        </p:blipFill>
        <p:spPr>
          <a:xfrm>
            <a:off x="6096000" y="2379213"/>
            <a:ext cx="4900475" cy="3178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37191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12316-7766-43A9-8251-665272DF4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EC6ED3-1CE0-4EAA-B79F-AF44BFE9F8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Interoperability</a:t>
            </a:r>
            <a:r>
              <a:rPr lang="en-US" dirty="0"/>
              <a:t>:- </a:t>
            </a:r>
            <a:r>
              <a:rPr lang="en-US" dirty="0">
                <a:solidFill>
                  <a:schemeClr val="tx1"/>
                </a:solidFill>
                <a:latin typeface="Open Sans" panose="020B0606030504020204" pitchFamily="34" charset="0"/>
              </a:rPr>
              <a:t>A</a:t>
            </a:r>
            <a:r>
              <a:rPr lang="en-US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bility to tie diverse electronic devices together so they can perform as one unified system.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Remotely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Accessible</a:t>
            </a:r>
            <a:r>
              <a:rPr lang="en-US" dirty="0"/>
              <a:t> </a:t>
            </a:r>
          </a:p>
          <a:p>
            <a:r>
              <a:rPr lang="en-US" dirty="0">
                <a:solidFill>
                  <a:schemeClr val="tx1"/>
                </a:solidFill>
              </a:rPr>
              <a:t>Upgradability</a:t>
            </a:r>
          </a:p>
          <a:p>
            <a:r>
              <a:rPr lang="en-US" dirty="0">
                <a:solidFill>
                  <a:schemeClr val="tx1"/>
                </a:solidFill>
              </a:rPr>
              <a:t>Variety of User Interfaces</a:t>
            </a:r>
          </a:p>
        </p:txBody>
      </p:sp>
    </p:spTree>
    <p:extLst>
      <p:ext uri="{BB962C8B-B14F-4D97-AF65-F5344CB8AC3E}">
        <p14:creationId xmlns:p14="http://schemas.microsoft.com/office/powerpoint/2010/main" val="30579195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C9710-4A56-4E44-AE27-308D9D7C1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8E7AF8-2AD7-4D9C-BA23-C7C4AD8DF6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b="0" i="0" dirty="0" err="1">
                <a:solidFill>
                  <a:schemeClr val="tx1"/>
                </a:solidFill>
                <a:effectLst/>
                <a:latin typeface="Source Sans Pro" panose="020B0503030403020204" pitchFamily="34" charset="0"/>
              </a:rPr>
              <a:t>Dahoumane</a:t>
            </a:r>
            <a:r>
              <a:rPr lang="en-GB" b="0" i="0" dirty="0">
                <a:solidFill>
                  <a:schemeClr val="tx1"/>
                </a:solidFill>
                <a:effectLst/>
                <a:latin typeface="Source Sans Pro" panose="020B0503030403020204" pitchFamily="34" charset="0"/>
              </a:rPr>
              <a:t> T., Haddadi M. (2018) Smart Home Control System Based on Raspberry Pi and ZigBee. In: Hatti M. (eds) Artificial Intelligence in Renewable Energetic Systems. ICAIRES 2017. Lecture Notes in Networks and Systems, vol 35. Springer, Cham.</a:t>
            </a:r>
          </a:p>
          <a:p>
            <a:r>
              <a:rPr lang="en-GB" b="0" i="0" dirty="0" err="1">
                <a:solidFill>
                  <a:schemeClr val="tx1"/>
                </a:solidFill>
                <a:effectLst/>
                <a:latin typeface="Source Sans Pro" panose="020B0503030403020204" pitchFamily="34" charset="0"/>
              </a:rPr>
              <a:t>Nadaf</a:t>
            </a:r>
            <a:r>
              <a:rPr lang="en-GB" b="0" i="0" dirty="0">
                <a:solidFill>
                  <a:schemeClr val="tx1"/>
                </a:solidFill>
                <a:effectLst/>
                <a:latin typeface="Source Sans Pro" panose="020B0503030403020204" pitchFamily="34" charset="0"/>
              </a:rPr>
              <a:t> R.A., </a:t>
            </a:r>
            <a:r>
              <a:rPr lang="en-GB" b="0" i="0" dirty="0" err="1">
                <a:solidFill>
                  <a:schemeClr val="tx1"/>
                </a:solidFill>
                <a:effectLst/>
                <a:latin typeface="Source Sans Pro" panose="020B0503030403020204" pitchFamily="34" charset="0"/>
              </a:rPr>
              <a:t>Hatture</a:t>
            </a:r>
            <a:r>
              <a:rPr lang="en-GB" b="0" i="0" dirty="0">
                <a:solidFill>
                  <a:schemeClr val="tx1"/>
                </a:solidFill>
                <a:effectLst/>
                <a:latin typeface="Source Sans Pro" panose="020B0503030403020204" pitchFamily="34" charset="0"/>
              </a:rPr>
              <a:t> S., </a:t>
            </a:r>
            <a:r>
              <a:rPr lang="en-GB" b="0" i="0" dirty="0" err="1">
                <a:solidFill>
                  <a:schemeClr val="tx1"/>
                </a:solidFill>
                <a:effectLst/>
                <a:latin typeface="Source Sans Pro" panose="020B0503030403020204" pitchFamily="34" charset="0"/>
              </a:rPr>
              <a:t>Challigidad</a:t>
            </a:r>
            <a:r>
              <a:rPr lang="en-GB" b="0" i="0" dirty="0">
                <a:solidFill>
                  <a:schemeClr val="tx1"/>
                </a:solidFill>
                <a:effectLst/>
                <a:latin typeface="Source Sans Pro" panose="020B0503030403020204" pitchFamily="34" charset="0"/>
              </a:rPr>
              <a:t> P.S., </a:t>
            </a:r>
            <a:r>
              <a:rPr lang="en-GB" b="0" i="0" dirty="0" err="1">
                <a:solidFill>
                  <a:schemeClr val="tx1"/>
                </a:solidFill>
                <a:effectLst/>
                <a:latin typeface="Source Sans Pro" panose="020B0503030403020204" pitchFamily="34" charset="0"/>
              </a:rPr>
              <a:t>Bonal</a:t>
            </a:r>
            <a:r>
              <a:rPr lang="en-GB" b="0" i="0" dirty="0">
                <a:solidFill>
                  <a:schemeClr val="tx1"/>
                </a:solidFill>
                <a:effectLst/>
                <a:latin typeface="Source Sans Pro" panose="020B0503030403020204" pitchFamily="34" charset="0"/>
              </a:rPr>
              <a:t> V.M. (2019) Smart Mirror Using Raspberry Pi for Human Monitoring and Home Security. In: </a:t>
            </a:r>
            <a:r>
              <a:rPr lang="en-GB" b="0" i="0" dirty="0" err="1">
                <a:solidFill>
                  <a:schemeClr val="tx1"/>
                </a:solidFill>
                <a:effectLst/>
                <a:latin typeface="Source Sans Pro" panose="020B0503030403020204" pitchFamily="34" charset="0"/>
              </a:rPr>
              <a:t>Luhach</a:t>
            </a:r>
            <a:r>
              <a:rPr lang="en-GB" b="0" i="0" dirty="0">
                <a:solidFill>
                  <a:schemeClr val="tx1"/>
                </a:solidFill>
                <a:effectLst/>
                <a:latin typeface="Source Sans Pro" panose="020B0503030403020204" pitchFamily="34" charset="0"/>
              </a:rPr>
              <a:t> A., </a:t>
            </a:r>
            <a:r>
              <a:rPr lang="en-GB" b="0" i="0" dirty="0" err="1">
                <a:solidFill>
                  <a:schemeClr val="tx1"/>
                </a:solidFill>
                <a:effectLst/>
                <a:latin typeface="Source Sans Pro" panose="020B0503030403020204" pitchFamily="34" charset="0"/>
              </a:rPr>
              <a:t>Jat</a:t>
            </a:r>
            <a:r>
              <a:rPr lang="en-GB" b="0" i="0" dirty="0">
                <a:solidFill>
                  <a:schemeClr val="tx1"/>
                </a:solidFill>
                <a:effectLst/>
                <a:latin typeface="Source Sans Pro" panose="020B0503030403020204" pitchFamily="34" charset="0"/>
              </a:rPr>
              <a:t> D., </a:t>
            </a:r>
            <a:r>
              <a:rPr lang="en-GB" b="0" i="0" dirty="0" err="1">
                <a:solidFill>
                  <a:schemeClr val="tx1"/>
                </a:solidFill>
                <a:effectLst/>
                <a:latin typeface="Source Sans Pro" panose="020B0503030403020204" pitchFamily="34" charset="0"/>
              </a:rPr>
              <a:t>Hawari</a:t>
            </a:r>
            <a:r>
              <a:rPr lang="en-GB" b="0" i="0" dirty="0">
                <a:solidFill>
                  <a:schemeClr val="tx1"/>
                </a:solidFill>
                <a:effectLst/>
                <a:latin typeface="Source Sans Pro" panose="020B0503030403020204" pitchFamily="34" charset="0"/>
              </a:rPr>
              <a:t> K., Gao XZ., </a:t>
            </a:r>
            <a:r>
              <a:rPr lang="en-GB" b="0" i="0" dirty="0" err="1">
                <a:solidFill>
                  <a:schemeClr val="tx1"/>
                </a:solidFill>
                <a:effectLst/>
                <a:latin typeface="Source Sans Pro" panose="020B0503030403020204" pitchFamily="34" charset="0"/>
              </a:rPr>
              <a:t>Lingras</a:t>
            </a:r>
            <a:r>
              <a:rPr lang="en-GB" b="0" i="0" dirty="0">
                <a:solidFill>
                  <a:schemeClr val="tx1"/>
                </a:solidFill>
                <a:effectLst/>
                <a:latin typeface="Source Sans Pro" panose="020B0503030403020204" pitchFamily="34" charset="0"/>
              </a:rPr>
              <a:t> P. (eds) Advanced Informatics for Computing Research. ICAICR 2019. Communications in Computer and Information Science, vol 1076. Springer, Singapore. https://doi.org/10.1007/978-981-15-0111-1_10</a:t>
            </a: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84719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19373-F4D1-4C79-B8B1-48170C851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dirty="0"/>
              <a:t>Thank You!</a:t>
            </a:r>
            <a:endParaRPr lang="en-GB" sz="6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7148B9-DB27-4511-B5B3-9F4252DAFD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4156058"/>
      </p:ext>
    </p:extLst>
  </p:cSld>
  <p:clrMapOvr>
    <a:masterClrMapping/>
  </p:clrMapOvr>
</p:sld>
</file>

<file path=ppt/theme/theme1.xml><?xml version="1.0" encoding="utf-8"?>
<a:theme xmlns:a="http://schemas.openxmlformats.org/drawingml/2006/main" name="PebbleVTI">
  <a:themeElements>
    <a:clrScheme name="AnalogousFromLightSeedLeftStep">
      <a:dk1>
        <a:srgbClr val="000000"/>
      </a:dk1>
      <a:lt1>
        <a:srgbClr val="FFFFFF"/>
      </a:lt1>
      <a:dk2>
        <a:srgbClr val="202939"/>
      </a:dk2>
      <a:lt2>
        <a:srgbClr val="E3E2E8"/>
      </a:lt2>
      <a:accent1>
        <a:srgbClr val="9BA672"/>
      </a:accent1>
      <a:accent2>
        <a:srgbClr val="AD9E67"/>
      </a:accent2>
      <a:accent3>
        <a:srgbClr val="C69579"/>
      </a:accent3>
      <a:accent4>
        <a:srgbClr val="C47578"/>
      </a:accent4>
      <a:accent5>
        <a:srgbClr val="CF8EAC"/>
      </a:accent5>
      <a:accent6>
        <a:srgbClr val="C475BA"/>
      </a:accent6>
      <a:hlink>
        <a:srgbClr val="7769AE"/>
      </a:hlink>
      <a:folHlink>
        <a:srgbClr val="7F7F7F"/>
      </a:folHlink>
    </a:clrScheme>
    <a:fontScheme name="Custom 4">
      <a:majorFont>
        <a:latin typeface="Sitka Subheading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ebbleVTI" id="{8B4DB91D-6BB4-4BA3-973A-733D3AF2680E}" vid="{9A19CF0D-2077-4BF4-BAA5-86934C336D5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1461</TotalTime>
  <Words>571</Words>
  <Application>Microsoft Office PowerPoint</Application>
  <PresentationFormat>Widescreen</PresentationFormat>
  <Paragraphs>92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Arial</vt:lpstr>
      <vt:lpstr>Avenir Next LT Pro</vt:lpstr>
      <vt:lpstr>Avenir Next LT Pro Light</vt:lpstr>
      <vt:lpstr>Cambria Math</vt:lpstr>
      <vt:lpstr>Open Sans</vt:lpstr>
      <vt:lpstr>Sitka Subheading</vt:lpstr>
      <vt:lpstr>Source Sans Pro</vt:lpstr>
      <vt:lpstr>Times New Roman</vt:lpstr>
      <vt:lpstr>PebbleVTI</vt:lpstr>
      <vt:lpstr>Domestic Aid &amp; Surveillance through Raspberry Pi</vt:lpstr>
      <vt:lpstr>Contents</vt:lpstr>
      <vt:lpstr>Introduction</vt:lpstr>
      <vt:lpstr>Objectives</vt:lpstr>
      <vt:lpstr>Literature Review</vt:lpstr>
      <vt:lpstr>Problem Identification</vt:lpstr>
      <vt:lpstr>Methodology</vt:lpstr>
      <vt:lpstr>Schematic Circuit Diagram</vt:lpstr>
      <vt:lpstr>Block Diagram</vt:lpstr>
      <vt:lpstr>Results &amp; Discussion</vt:lpstr>
      <vt:lpstr>Results &amp; Discussion</vt:lpstr>
      <vt:lpstr>Sample Output</vt:lpstr>
      <vt:lpstr>Conclusion</vt:lpstr>
      <vt:lpstr>References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Pacific</dc:creator>
  <cp:lastModifiedBy>Govind Singh</cp:lastModifiedBy>
  <cp:revision>56</cp:revision>
  <dcterms:created xsi:type="dcterms:W3CDTF">2021-02-28T12:23:29Z</dcterms:created>
  <dcterms:modified xsi:type="dcterms:W3CDTF">2021-08-07T03:35:04Z</dcterms:modified>
</cp:coreProperties>
</file>